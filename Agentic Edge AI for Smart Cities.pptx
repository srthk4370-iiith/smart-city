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85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 ·  EMBEDDED SYSTEMS &amp; WIRELESS LAB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Edge AI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Smart Cities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edge-native multi-agent SLM framework for cross-domain reasoning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3246120" cy="868680"/>
          </a:xfrm>
          <a:prstGeom prst="roundRect">
            <a:avLst>
              <a:gd name="adj" fmla="val 10526"/>
            </a:avLst>
          </a:prstGeom>
          <a:solidFill>
            <a:srgbClr val="123847"/>
          </a:solidFill>
          <a:ln w="12700">
            <a:solidFill>
              <a:srgbClr val="1F4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4590288"/>
            <a:ext cx="548640" cy="548640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14" name="Image 0" descr="/home/claude/aiedge/icons/microchi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4710989"/>
            <a:ext cx="307238" cy="30723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700784" y="462686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B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</a:t>
            </a:r>
            <a:endParaRPr lang="en-US" sz="9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Qualcomm QIDK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22960" y="5486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Anuradha Vattem</a:t>
            </a:r>
            <a:pPr indent="0" marL="0">
              <a:buNone/>
            </a:pPr>
            <a:r>
              <a:rPr lang="en-US" sz="13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TA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Lokabhiram Chintada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6080760"/>
            <a:ext cx="384048" cy="384048"/>
          </a:xfrm>
          <a:prstGeom prst="ellipse">
            <a:avLst/>
          </a:prstGeom>
          <a:solidFill>
            <a:srgbClr val="16323F"/>
          </a:solidFill>
          <a:ln/>
        </p:spPr>
      </p:sp>
      <p:pic>
        <p:nvPicPr>
          <p:cNvPr id="18" name="Image 1" descr="/home/claude/aiedge/icons/bol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71" y="6167171"/>
            <a:ext cx="211226" cy="21122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6080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2944368" y="6080760"/>
            <a:ext cx="384048" cy="384048"/>
          </a:xfrm>
          <a:prstGeom prst="ellipse">
            <a:avLst/>
          </a:prstGeom>
          <a:solidFill>
            <a:srgbClr val="16323F"/>
          </a:solidFill>
          <a:ln/>
        </p:spPr>
      </p:sp>
      <p:pic>
        <p:nvPicPr>
          <p:cNvPr id="21" name="Image 2" descr="/home/claude/aiedge/icons/wind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779" y="6167171"/>
            <a:ext cx="211226" cy="21122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01568" y="6080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065776" y="6080760"/>
            <a:ext cx="384048" cy="384048"/>
          </a:xfrm>
          <a:prstGeom prst="ellipse">
            <a:avLst/>
          </a:prstGeom>
          <a:solidFill>
            <a:srgbClr val="16323F"/>
          </a:solidFill>
          <a:ln/>
        </p:spPr>
      </p:sp>
      <p:pic>
        <p:nvPicPr>
          <p:cNvPr id="24" name="Image 3" descr="/home/claude/aiedge/icons/tin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187" y="6167171"/>
            <a:ext cx="211226" cy="21122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22976" y="6080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187184" y="6080760"/>
            <a:ext cx="384048" cy="384048"/>
          </a:xfrm>
          <a:prstGeom prst="ellipse">
            <a:avLst/>
          </a:prstGeom>
          <a:solidFill>
            <a:srgbClr val="16323F"/>
          </a:solidFill>
          <a:ln/>
        </p:spPr>
      </p:sp>
      <p:pic>
        <p:nvPicPr>
          <p:cNvPr id="27" name="Image 4" descr="/home/claude/aiedge/icons/cloudSun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3595" y="6167171"/>
            <a:ext cx="211226" cy="2112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644384" y="6080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9308592" y="6080760"/>
            <a:ext cx="384048" cy="384048"/>
          </a:xfrm>
          <a:prstGeom prst="ellipse">
            <a:avLst/>
          </a:prstGeom>
          <a:solidFill>
            <a:srgbClr val="16323F"/>
          </a:solidFill>
          <a:ln/>
        </p:spPr>
      </p:sp>
      <p:pic>
        <p:nvPicPr>
          <p:cNvPr id="30" name="Image 5" descr="/home/claude/aiedge/icons/users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5003" y="6167171"/>
            <a:ext cx="211226" cy="21122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765792" y="6080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9829800" y="2057400"/>
            <a:ext cx="1737360" cy="1737360"/>
          </a:xfrm>
          <a:prstGeom prst="ellipse">
            <a:avLst/>
          </a:prstGeom>
          <a:ln w="12700">
            <a:solidFill>
              <a:srgbClr val="1F4A5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0035540" y="2263140"/>
            <a:ext cx="1325880" cy="1325880"/>
          </a:xfrm>
          <a:prstGeom prst="ellipse">
            <a:avLst/>
          </a:prstGeom>
          <a:ln w="12700">
            <a:solidFill>
              <a:srgbClr val="1F4A5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10241280" y="2468880"/>
            <a:ext cx="914400" cy="914400"/>
          </a:xfrm>
          <a:prstGeom prst="ellipse">
            <a:avLst/>
          </a:prstGeom>
          <a:ln w="25400">
            <a:solidFill>
              <a:srgbClr val="2ED9C3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10387584" y="2615184"/>
            <a:ext cx="621792" cy="621792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36" name="Image 6" descr="/home/claude/aiedge/icons/microchip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7487" y="2755087"/>
            <a:ext cx="341986" cy="3419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isolated alerts to cross-domain reasoning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Smart-city infrastructure is monitored as separate silos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574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aiedge/icons/bolt_deep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11" y="2143811"/>
            <a:ext cx="211226" cy="2112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9659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60520" y="19659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642616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273405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aiedge/icons/wind_deep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11" y="2820467"/>
            <a:ext cx="211226" cy="2112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64261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160520" y="264261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319272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34107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aiedge/icons/tint_deep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11" y="3497123"/>
            <a:ext cx="211226" cy="2112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3192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160520" y="331927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995928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" y="408736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home/claude/aiedge/icons/cloudSun_deep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11" y="4173779"/>
            <a:ext cx="211226" cy="2112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9959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160520" y="39959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672584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85800" y="476402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home/claude/aiedge/icons/users_deep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211" y="4850435"/>
            <a:ext cx="211226" cy="2112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34440" y="46725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160520" y="467258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989320" y="14813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are threshold-based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5989320" y="192024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123847"/>
          </a:solidFill>
          <a:ln w="12700">
            <a:solidFill>
              <a:srgbClr val="DCE6E8"/>
            </a:solidFill>
            <a:prstDash val="solid"/>
          </a:ln>
        </p:spPr>
      </p:sp>
      <p:pic>
        <p:nvPicPr>
          <p:cNvPr id="32" name="Image 5" descr="/home/claude/aiedge/icons/arrowRigh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19456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0" y="208483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crosses threshold → alert generated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or no explanation of why it happened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989320" y="30632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gap: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root-cause reasoning. Causes can span multiple infrastructure domains, and detecting these relationships is difficult.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5989320" y="39136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adds hard constraints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5989320" y="4279392"/>
            <a:ext cx="1298448" cy="1170432"/>
          </a:xfrm>
          <a:prstGeom prst="roundRect">
            <a:avLst>
              <a:gd name="adj" fmla="val 9375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391656" y="440740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6" descr="/home/claude/aiedge/icons/memory_cor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287" y="4516039"/>
            <a:ext cx="276515" cy="27651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989320" y="49560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7452360" y="4279392"/>
            <a:ext cx="1298448" cy="1170432"/>
          </a:xfrm>
          <a:prstGeom prst="roundRect">
            <a:avLst>
              <a:gd name="adj" fmla="val 9375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7854696" y="440740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7" descr="/home/claude/aiedge/icons/microchip_cor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3327" y="4516039"/>
            <a:ext cx="276515" cy="276515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452360" y="49560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915400" y="4279392"/>
            <a:ext cx="1298448" cy="1170432"/>
          </a:xfrm>
          <a:prstGeom prst="roundRect">
            <a:avLst>
              <a:gd name="adj" fmla="val 9375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9317736" y="440740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8" descr="/home/claude/aiedge/icons/batteryHalf_cor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6367" y="4516039"/>
            <a:ext cx="276515" cy="27651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15400" y="49560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50" dirty="0"/>
          </a:p>
        </p:txBody>
      </p:sp>
      <p:sp>
        <p:nvSpPr>
          <p:cNvPr id="48" name="Shape 37"/>
          <p:cNvSpPr/>
          <p:nvPr/>
        </p:nvSpPr>
        <p:spPr>
          <a:xfrm>
            <a:off x="10378440" y="4279392"/>
            <a:ext cx="1298448" cy="1170432"/>
          </a:xfrm>
          <a:prstGeom prst="roundRect">
            <a:avLst>
              <a:gd name="adj" fmla="val 9375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10780776" y="440740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9" descr="/home/claude/aiedge/icons/stopwatch_cor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9407" y="4516039"/>
            <a:ext cx="276515" cy="276515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10378440" y="4956048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50" dirty="0"/>
          </a:p>
        </p:txBody>
      </p:sp>
      <p:sp>
        <p:nvSpPr>
          <p:cNvPr id="52" name="Shape 40"/>
          <p:cNvSpPr/>
          <p:nvPr/>
        </p:nvSpPr>
        <p:spPr>
          <a:xfrm>
            <a:off x="548640" y="5742432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0B1F2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17232B">
                <a:alpha val="18000"/>
              </a:srgbClr>
            </a:outerShdw>
          </a:effectLst>
        </p:spPr>
      </p:sp>
      <p:sp>
        <p:nvSpPr>
          <p:cNvPr id="53" name="Text 41"/>
          <p:cNvSpPr/>
          <p:nvPr/>
        </p:nvSpPr>
        <p:spPr>
          <a:xfrm>
            <a:off x="868680" y="57424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small local model reason across multiple sensor domains, in real time, directly on an edge device?</a:t>
            </a:r>
            <a:endParaRPr lang="en-US" sz="1350" dirty="0"/>
          </a:p>
        </p:txBody>
      </p:sp>
      <p:sp>
        <p:nvSpPr>
          <p:cNvPr id="54" name="Text 42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edge agents? Smart-city systems are coupled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action, three domains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08760" y="2880360"/>
            <a:ext cx="731520" cy="731520"/>
          </a:xfrm>
          <a:prstGeom prst="ellipse">
            <a:avLst/>
          </a:prstGeom>
          <a:solidFill>
            <a:srgbClr val="123847"/>
          </a:solidFill>
          <a:ln/>
        </p:spPr>
      </p:sp>
      <p:pic>
        <p:nvPicPr>
          <p:cNvPr id="7" name="Image 0" descr="/home/claude/aiedge/icons/win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3063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58568" y="3246120"/>
            <a:ext cx="1307592" cy="-1005840"/>
          </a:xfrm>
          <a:prstGeom prst="line">
            <a:avLst/>
          </a:prstGeom>
          <a:noFill/>
          <a:ln w="12700">
            <a:solidFill>
              <a:srgbClr val="5B748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56616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aiedge/icons/bolt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258568" y="3246120"/>
            <a:ext cx="1307592" cy="0"/>
          </a:xfrm>
          <a:prstGeom prst="line">
            <a:avLst/>
          </a:prstGeom>
          <a:noFill/>
          <a:ln w="12700">
            <a:solidFill>
              <a:srgbClr val="5B7480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3566160" y="2971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aiedge/icons/wind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309524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60520" y="2971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258568" y="3246120"/>
            <a:ext cx="1307592" cy="1005840"/>
          </a:xfrm>
          <a:prstGeom prst="line">
            <a:avLst/>
          </a:prstGeom>
          <a:noFill/>
          <a:ln w="12700">
            <a:solidFill>
              <a:srgbClr val="5B7480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3566160" y="3977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/home/claude/aiedge/icons/users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604" y="410108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60520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77240" y="45902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siloed system sees separate alerts — a cross-domain agent connects them.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852160" y="14813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process intelligence at the edge?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874520"/>
          <a:ext cx="5760720" cy="1920240"/>
        </p:xfrm>
        <a:graphic>
          <a:graphicData uri="http://schemas.openxmlformats.org/drawingml/2006/table">
            <a:tbl>
              <a:tblPr/>
              <a:tblGrid>
                <a:gridCol w="2880360"/>
                <a:gridCol w="2880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Cloud AI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4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</a:rPr>
                        <a:t>Edge AI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D9C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</a:rPr>
                        <a:t>Network latency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B33"/>
                          </a:solidFill>
                        </a:rPr>
                        <a:t>Low-latency local inference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</a:rPr>
                        <a:t>Continuous sensor transmission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B33"/>
                          </a:solidFill>
                        </a:rPr>
                        <a:t>Data remains local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</a:rPr>
                        <a:t>Connectivity dependency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B33"/>
                          </a:solidFill>
                        </a:rPr>
                        <a:t>Works without connectivity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B33"/>
                          </a:solidFill>
                        </a:rPr>
                        <a:t>Large models / higher compute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B33"/>
                          </a:solidFill>
                        </a:rPr>
                        <a:t>Small, efficient models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17"/>
          <p:cNvSpPr/>
          <p:nvPr/>
        </p:nvSpPr>
        <p:spPr>
          <a:xfrm>
            <a:off x="5852160" y="3977640"/>
            <a:ext cx="5760720" cy="1051560"/>
          </a:xfrm>
          <a:prstGeom prst="roundRect">
            <a:avLst>
              <a:gd name="adj" fmla="val 10435"/>
            </a:avLst>
          </a:prstGeom>
          <a:solidFill>
            <a:srgbClr val="0B1F2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17232B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053328" y="4206240"/>
            <a:ext cx="566928" cy="566928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26" name="Image 4" descr="/home/claude/aiedge/icons/microchip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052" y="4330964"/>
            <a:ext cx="317480" cy="317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12280" y="41148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QIDK advantage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NPU enables efficient local inference, making on-device SLM reasoning practical.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0B1F2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17232B">
                <a:alpha val="18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86868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domains are physically coupled, reasoning about one requires context from the others — the motivation for a cross-domain agent architecture.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MOTIVATING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threshold system sees vs. what an agent explains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building-day trace — 13:00 to 15:00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0"/>
          </a:xfrm>
          <a:prstGeom prst="line">
            <a:avLst/>
          </a:prstGeom>
          <a:noFill/>
          <a:ln w="38100">
            <a:solidFill>
              <a:srgbClr val="DCE6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901952"/>
            <a:ext cx="128016" cy="128016"/>
          </a:xfrm>
          <a:prstGeom prst="ellipse">
            <a:avLst/>
          </a:prstGeom>
          <a:solidFill>
            <a:srgbClr val="5B748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2075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" y="23134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66717" y="1901952"/>
            <a:ext cx="128016" cy="128016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0" name="Text 8"/>
          <p:cNvSpPr/>
          <p:nvPr/>
        </p:nvSpPr>
        <p:spPr>
          <a:xfrm>
            <a:off x="3973525" y="2075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13:45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27805" y="23134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spikes vs. occupancy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61469" y="1901952"/>
            <a:ext cx="128016" cy="128016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6968277" y="2075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22557" y="23134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temp rises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387584" y="1901952"/>
            <a:ext cx="128016" cy="128016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6" name="Text 14"/>
          <p:cNvSpPr/>
          <p:nvPr/>
        </p:nvSpPr>
        <p:spPr>
          <a:xfrm>
            <a:off x="9994392" y="2075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948672" y="23134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HVAC/air-quality link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4655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0" descr="/home/claude/aiedge/icons/bell_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3568446"/>
            <a:ext cx="251460" cy="2514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71600" y="34655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77240" y="406908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0120" y="40690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"Energy threshold exceeded."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72200" y="32461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0B1F2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17232B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00800" y="3465576"/>
            <a:ext cx="457200" cy="457200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26" name="Image 1" descr="/home/claude/aiedge/icons/commentDot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70" y="3568446"/>
            <a:ext cx="251460" cy="2514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95160" y="34655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6400800" y="406908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123847"/>
          </a:solidFill>
          <a:ln w="12700">
            <a:solidFill>
              <a:srgbClr val="1F4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83680" y="40690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D7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"Energy increased disproportionately to occupancy, coinciding with HVAC/air-quality load — investigate ventilation."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not merely detecting anomalies, but explaining cross-domain causes. </a:t>
            </a:r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shown is synthetic and illustrative; real IoT traces will be used during evaluation.)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event-driven multi-agent reasoning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49474" cy="960120"/>
          </a:xfrm>
          <a:prstGeom prst="roundRect">
            <a:avLst>
              <a:gd name="adj" fmla="val 1142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950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aiedge/icons/satelliteDish_deep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956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1938528"/>
            <a:ext cx="2393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8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Streams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multi-domain data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3188970" y="1851660"/>
            <a:ext cx="182880" cy="0"/>
          </a:xfrm>
          <a:prstGeom prst="line">
            <a:avLst/>
          </a:prstGeom>
          <a:noFill/>
          <a:ln w="16510">
            <a:solidFill>
              <a:srgbClr val="5B74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62706" y="1371600"/>
            <a:ext cx="2649474" cy="960120"/>
          </a:xfrm>
          <a:prstGeom prst="roundRect">
            <a:avLst>
              <a:gd name="adj" fmla="val 1142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0722" y="14950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aiedge/icons/filter_deep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306" y="159562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0722" y="1938528"/>
            <a:ext cx="2393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8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Stream Processing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aggregate · window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6003036" y="1851660"/>
            <a:ext cx="182880" cy="0"/>
          </a:xfrm>
          <a:prstGeom prst="line">
            <a:avLst/>
          </a:prstGeom>
          <a:noFill/>
          <a:ln w="16510">
            <a:solidFill>
              <a:srgbClr val="5B748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6772" y="1371600"/>
            <a:ext cx="2649474" cy="960120"/>
          </a:xfrm>
          <a:prstGeom prst="roundRect">
            <a:avLst>
              <a:gd name="adj" fmla="val 1142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4788" y="14950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aiedge/icons/database_deep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159562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4788" y="1938528"/>
            <a:ext cx="2393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8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 + History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summaries only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8817102" y="1851660"/>
            <a:ext cx="182880" cy="0"/>
          </a:xfrm>
          <a:prstGeom prst="line">
            <a:avLst/>
          </a:prstGeom>
          <a:noFill/>
          <a:ln w="16510">
            <a:solidFill>
              <a:srgbClr val="5B748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990838" y="1371600"/>
            <a:ext cx="2649474" cy="960120"/>
          </a:xfrm>
          <a:prstGeom prst="roundRect">
            <a:avLst>
              <a:gd name="adj" fmla="val 1142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18854" y="14950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aiedge/icons/exclamTriangle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9438" y="159562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8854" y="1938528"/>
            <a:ext cx="2393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8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8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Non-LLM · always-on trigger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3216402" y="1851660"/>
            <a:ext cx="9144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 rot="5400000">
            <a:off x="3289554" y="1796796"/>
            <a:ext cx="91440" cy="109728"/>
          </a:xfrm>
          <a:prstGeom prst="triangle">
            <a:avLst/>
          </a:prstGeom>
          <a:solidFill>
            <a:srgbClr val="5B7480"/>
          </a:solidFill>
          <a:ln/>
        </p:spPr>
      </p:sp>
      <p:sp>
        <p:nvSpPr>
          <p:cNvPr id="25" name="Shape 19"/>
          <p:cNvSpPr/>
          <p:nvPr/>
        </p:nvSpPr>
        <p:spPr>
          <a:xfrm>
            <a:off x="6030468" y="1851660"/>
            <a:ext cx="9144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 rot="5400000">
            <a:off x="6103620" y="1796796"/>
            <a:ext cx="91440" cy="109728"/>
          </a:xfrm>
          <a:prstGeom prst="triangle">
            <a:avLst/>
          </a:prstGeom>
          <a:solidFill>
            <a:srgbClr val="5B7480"/>
          </a:solidFill>
          <a:ln/>
        </p:spPr>
      </p:sp>
      <p:sp>
        <p:nvSpPr>
          <p:cNvPr id="27" name="Shape 21"/>
          <p:cNvSpPr/>
          <p:nvPr/>
        </p:nvSpPr>
        <p:spPr>
          <a:xfrm>
            <a:off x="8844534" y="1851660"/>
            <a:ext cx="91440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 rot="5400000">
            <a:off x="8917686" y="1796796"/>
            <a:ext cx="91440" cy="109728"/>
          </a:xfrm>
          <a:prstGeom prst="triangle">
            <a:avLst/>
          </a:prstGeom>
          <a:solidFill>
            <a:srgbClr val="5B7480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2386584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A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relevant context is forwarded when the trigger fires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095848" y="2624328"/>
            <a:ext cx="0" cy="219456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 rot="10800000">
            <a:off x="6040984" y="2825496"/>
            <a:ext cx="109728" cy="91440"/>
          </a:xfrm>
          <a:prstGeom prst="triangle">
            <a:avLst/>
          </a:prstGeom>
          <a:solidFill>
            <a:srgbClr val="5B7480"/>
          </a:solidFill>
          <a:ln/>
        </p:spPr>
      </p:sp>
      <p:sp>
        <p:nvSpPr>
          <p:cNvPr id="32" name="Shape 26"/>
          <p:cNvSpPr/>
          <p:nvPr/>
        </p:nvSpPr>
        <p:spPr>
          <a:xfrm>
            <a:off x="2621128" y="2935224"/>
            <a:ext cx="6949440" cy="713232"/>
          </a:xfrm>
          <a:prstGeom prst="roundRect">
            <a:avLst>
              <a:gd name="adj" fmla="val 15385"/>
            </a:avLst>
          </a:prstGeom>
          <a:solidFill>
            <a:srgbClr val="0B1F2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17232B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2767432" y="3035808"/>
            <a:ext cx="512064" cy="512064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34" name="Image 4" descr="/home/claude/aiedge/icons/sitemap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086" y="3148462"/>
            <a:ext cx="286756" cy="2867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444088" y="2935224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Orchestrator 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domain agents &amp; performs cross-domain reasoning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6095848" y="3694176"/>
            <a:ext cx="0" cy="201168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 rot="10800000">
            <a:off x="6040984" y="3877056"/>
            <a:ext cx="109728" cy="91440"/>
          </a:xfrm>
          <a:prstGeom prst="triangle">
            <a:avLst/>
          </a:prstGeom>
          <a:solidFill>
            <a:srgbClr val="5B7480"/>
          </a:solidFill>
          <a:ln/>
        </p:spPr>
      </p:sp>
      <p:sp>
        <p:nvSpPr>
          <p:cNvPr id="38" name="Text 31"/>
          <p:cNvSpPr/>
          <p:nvPr/>
        </p:nvSpPr>
        <p:spPr>
          <a:xfrm>
            <a:off x="548640" y="4032504"/>
            <a:ext cx="11091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AGENTS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548640" y="4288536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056132" y="43799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5" descr="/home/claude/aiedge/icons/bolt_deep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646" y="4468490"/>
            <a:ext cx="225308" cy="22530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48640" y="48006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2967228" y="4288536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3474720" y="43799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6" descr="/home/claude/aiedge/icons/wind_deep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3234" y="4468490"/>
            <a:ext cx="225308" cy="22530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2967228" y="48006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5385816" y="4288536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5893308" y="43799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7" descr="/home/claude/aiedge/icons/tint_deep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1822" y="4468490"/>
            <a:ext cx="225308" cy="225308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385816" y="48006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950" dirty="0"/>
          </a:p>
        </p:txBody>
      </p:sp>
      <p:sp>
        <p:nvSpPr>
          <p:cNvPr id="51" name="Shape 41"/>
          <p:cNvSpPr/>
          <p:nvPr/>
        </p:nvSpPr>
        <p:spPr>
          <a:xfrm>
            <a:off x="7804404" y="4288536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8311896" y="43799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3" name="Image 8" descr="/home/claude/aiedge/icons/cloudSun_deep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0410" y="4468490"/>
            <a:ext cx="225308" cy="225308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804404" y="48006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950" dirty="0"/>
          </a:p>
        </p:txBody>
      </p:sp>
      <p:sp>
        <p:nvSpPr>
          <p:cNvPr id="55" name="Shape 44"/>
          <p:cNvSpPr/>
          <p:nvPr/>
        </p:nvSpPr>
        <p:spPr>
          <a:xfrm>
            <a:off x="10222992" y="4288536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10730484" y="43799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7" name="Image 9" descr="/home/claude/aiedge/icons/users_deep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18998" y="4468490"/>
            <a:ext cx="225308" cy="225308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10222992" y="48006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950" dirty="0"/>
          </a:p>
        </p:txBody>
      </p:sp>
      <p:sp>
        <p:nvSpPr>
          <p:cNvPr id="59" name="Shape 47"/>
          <p:cNvSpPr/>
          <p:nvPr/>
        </p:nvSpPr>
        <p:spPr>
          <a:xfrm>
            <a:off x="6095848" y="5102352"/>
            <a:ext cx="0" cy="18288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 rot="10800000">
            <a:off x="6040984" y="5266944"/>
            <a:ext cx="109728" cy="91440"/>
          </a:xfrm>
          <a:prstGeom prst="triangle">
            <a:avLst/>
          </a:prstGeom>
          <a:solidFill>
            <a:srgbClr val="5B7480"/>
          </a:solidFill>
          <a:ln/>
        </p:spPr>
      </p:sp>
      <p:sp>
        <p:nvSpPr>
          <p:cNvPr id="61" name="Text 49"/>
          <p:cNvSpPr/>
          <p:nvPr/>
        </p:nvSpPr>
        <p:spPr>
          <a:xfrm>
            <a:off x="548640" y="5431536"/>
            <a:ext cx="11091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62" name="Shape 50"/>
          <p:cNvSpPr/>
          <p:nvPr/>
        </p:nvSpPr>
        <p:spPr>
          <a:xfrm>
            <a:off x="548640" y="5687568"/>
            <a:ext cx="2601468" cy="566928"/>
          </a:xfrm>
          <a:prstGeom prst="roundRect">
            <a:avLst>
              <a:gd name="adj" fmla="val 19355"/>
            </a:avLst>
          </a:prstGeom>
          <a:solidFill>
            <a:srgbClr val="123847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658368" y="5788152"/>
            <a:ext cx="365760" cy="365760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64" name="Image 10" descr="/home/claude/aiedge/icons/commentDots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835" y="5868619"/>
            <a:ext cx="204826" cy="204826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1097280" y="5687568"/>
            <a:ext cx="1961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80" dirty="0"/>
          </a:p>
        </p:txBody>
      </p:sp>
      <p:sp>
        <p:nvSpPr>
          <p:cNvPr id="66" name="Shape 53"/>
          <p:cNvSpPr/>
          <p:nvPr/>
        </p:nvSpPr>
        <p:spPr>
          <a:xfrm>
            <a:off x="3378708" y="5687568"/>
            <a:ext cx="2601468" cy="566928"/>
          </a:xfrm>
          <a:prstGeom prst="roundRect">
            <a:avLst>
              <a:gd name="adj" fmla="val 19355"/>
            </a:avLst>
          </a:prstGeom>
          <a:solidFill>
            <a:srgbClr val="123847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7" name="Shape 54"/>
          <p:cNvSpPr/>
          <p:nvPr/>
        </p:nvSpPr>
        <p:spPr>
          <a:xfrm>
            <a:off x="3488436" y="5788152"/>
            <a:ext cx="365760" cy="365760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68" name="Image 11" descr="/home/claude/aiedge/icons/bell_nav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8903" y="5868619"/>
            <a:ext cx="204826" cy="204826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3927348" y="5687568"/>
            <a:ext cx="1961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</a:t>
            </a:r>
            <a:endParaRPr lang="en-US" sz="980" dirty="0"/>
          </a:p>
        </p:txBody>
      </p:sp>
      <p:sp>
        <p:nvSpPr>
          <p:cNvPr id="70" name="Shape 56"/>
          <p:cNvSpPr/>
          <p:nvPr/>
        </p:nvSpPr>
        <p:spPr>
          <a:xfrm>
            <a:off x="6208776" y="5687568"/>
            <a:ext cx="2601468" cy="566928"/>
          </a:xfrm>
          <a:prstGeom prst="roundRect">
            <a:avLst>
              <a:gd name="adj" fmla="val 19355"/>
            </a:avLst>
          </a:prstGeom>
          <a:solidFill>
            <a:srgbClr val="123847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1" name="Shape 57"/>
          <p:cNvSpPr/>
          <p:nvPr/>
        </p:nvSpPr>
        <p:spPr>
          <a:xfrm>
            <a:off x="6318504" y="5788152"/>
            <a:ext cx="365760" cy="365760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72" name="Image 12" descr="/home/claude/aiedge/icons/lightbulb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8971" y="5868619"/>
            <a:ext cx="204826" cy="204826"/>
          </a:xfrm>
          <a:prstGeom prst="rect">
            <a:avLst/>
          </a:prstGeom>
        </p:spPr>
      </p:pic>
      <p:sp>
        <p:nvSpPr>
          <p:cNvPr id="73" name="Text 58"/>
          <p:cNvSpPr/>
          <p:nvPr/>
        </p:nvSpPr>
        <p:spPr>
          <a:xfrm>
            <a:off x="6757416" y="5687568"/>
            <a:ext cx="1961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80" dirty="0"/>
          </a:p>
        </p:txBody>
      </p:sp>
      <p:sp>
        <p:nvSpPr>
          <p:cNvPr id="74" name="Shape 59"/>
          <p:cNvSpPr/>
          <p:nvPr/>
        </p:nvSpPr>
        <p:spPr>
          <a:xfrm>
            <a:off x="9038844" y="5687568"/>
            <a:ext cx="2601468" cy="566928"/>
          </a:xfrm>
          <a:prstGeom prst="roundRect">
            <a:avLst>
              <a:gd name="adj" fmla="val 19355"/>
            </a:avLst>
          </a:prstGeom>
          <a:solidFill>
            <a:srgbClr val="123847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75" name="Shape 60"/>
          <p:cNvSpPr/>
          <p:nvPr/>
        </p:nvSpPr>
        <p:spPr>
          <a:xfrm>
            <a:off x="9148572" y="5788152"/>
            <a:ext cx="365760" cy="365760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76" name="Image 13" descr="/home/claude/aiedge/icons/comments_nav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9039" y="5868619"/>
            <a:ext cx="204826" cy="204826"/>
          </a:xfrm>
          <a:prstGeom prst="rect">
            <a:avLst/>
          </a:prstGeom>
        </p:spPr>
      </p:pic>
      <p:sp>
        <p:nvSpPr>
          <p:cNvPr id="77" name="Text 61"/>
          <p:cNvSpPr/>
          <p:nvPr/>
        </p:nvSpPr>
        <p:spPr>
          <a:xfrm>
            <a:off x="9587484" y="5687568"/>
            <a:ext cx="1961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</a:t>
            </a:r>
            <a:endParaRPr lang="en-US" sz="980" dirty="0"/>
          </a:p>
        </p:txBody>
      </p:sp>
      <p:sp>
        <p:nvSpPr>
          <p:cNvPr id="78" name="Text 62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for bounded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47872" cy="3246120"/>
          </a:xfrm>
          <a:prstGeom prst="roundRect">
            <a:avLst>
              <a:gd name="adj" fmla="val 3380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319272" y="1801368"/>
            <a:ext cx="548640" cy="548640"/>
          </a:xfrm>
          <a:prstGeom prst="ellipse">
            <a:avLst/>
          </a:prstGeom>
          <a:solidFill>
            <a:srgbClr val="0B1F2A"/>
          </a:solidFill>
          <a:ln/>
        </p:spPr>
      </p:sp>
      <p:pic>
        <p:nvPicPr>
          <p:cNvPr id="7" name="Image 0" descr="/home/claude/aiedge/icons/memory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2716" y="192481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44144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Memory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49808" y="2971800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 / ring buffers for recent state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statistics and trends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feeding complete historical data to the model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1600200"/>
            <a:ext cx="3547872" cy="3246120"/>
          </a:xfrm>
          <a:prstGeom prst="roundRect">
            <a:avLst>
              <a:gd name="adj" fmla="val 3380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6280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7095744" y="1801368"/>
            <a:ext cx="548640" cy="548640"/>
          </a:xfrm>
          <a:prstGeom prst="ellipse">
            <a:avLst/>
          </a:prstGeom>
          <a:solidFill>
            <a:srgbClr val="0B1F2A"/>
          </a:solidFill>
          <a:ln/>
        </p:spPr>
      </p:sp>
      <p:pic>
        <p:nvPicPr>
          <p:cNvPr id="13" name="Image 1" descr="/home/claude/aiedge/icons/stopwatch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188" y="1924812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44144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Inference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26280" y="2971800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SLM reasoning only on an anomaly or a user query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inference on every sensor tick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1584" y="1600200"/>
            <a:ext cx="3547872" cy="3246120"/>
          </a:xfrm>
          <a:prstGeom prst="roundRect">
            <a:avLst>
              <a:gd name="adj" fmla="val 3380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02752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0872216" y="1801368"/>
            <a:ext cx="548640" cy="548640"/>
          </a:xfrm>
          <a:prstGeom prst="ellipse">
            <a:avLst/>
          </a:prstGeom>
          <a:solidFill>
            <a:srgbClr val="0B1F2A"/>
          </a:solidFill>
          <a:ln/>
        </p:spPr>
      </p:sp>
      <p:pic>
        <p:nvPicPr>
          <p:cNvPr id="19" name="Image 2" descr="/home/claude/aiedge/icons/microchip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660" y="1924812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2441448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On-Device Inference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302752" y="2971800"/>
            <a:ext cx="314553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/ quantized models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Qualcomm AI acceleration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NPU-based inference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0B1F2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17232B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68680" y="5230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TARGET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6868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memory  +  Low latency  +  Useful reasoning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868680" y="59436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objectives inherently compete — managing this trade-off is a core systems challenge.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 &amp;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F0FAF8"/>
          </a:solidFill>
          <a:ln w="12700">
            <a:solidFill>
              <a:srgbClr val="BFE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56232"/>
            <a:ext cx="502920" cy="502920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6" name="Image 0" descr="/home/claude/aiedge/icons/check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966874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562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Core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5603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/home/claude/aiedge/icons/chartLine_deep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00" y="2654960"/>
            <a:ext cx="231343" cy="231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2505456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and diagnosis using recent / compact history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331012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aiedge/icons/bolt_deep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00" y="3404768"/>
            <a:ext cx="231343" cy="231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9888" y="3255264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intelligence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only when necessary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22960" y="405993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/home/claude/aiedge/icons/comments_deep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00" y="4154576"/>
            <a:ext cx="231343" cy="231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89888" y="4005072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decision support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anomalies and provide recommendations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22960" y="480974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/home/claude/aiedge/icons/microchip_deep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600" y="4904384"/>
            <a:ext cx="231343" cy="23134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89888" y="475488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Edge-efficient inference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/ quantized models + NPU acceleration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291072" y="160020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565392" y="1856232"/>
            <a:ext cx="502920" cy="502920"/>
          </a:xfrm>
          <a:prstGeom prst="ellipse">
            <a:avLst/>
          </a:prstGeom>
          <a:solidFill>
            <a:srgbClr val="5B7480"/>
          </a:solidFill>
          <a:ln/>
        </p:spPr>
      </p:sp>
      <p:pic>
        <p:nvPicPr>
          <p:cNvPr id="22" name="Image 5" descr="/home/claude/aiedge/icons/flas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034" y="1966874"/>
            <a:ext cx="281635" cy="28163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05472" y="18562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Extensions</a:t>
            </a:r>
            <a:endParaRPr lang="en-US" sz="1700" dirty="0"/>
          </a:p>
        </p:txBody>
      </p:sp>
      <p:sp>
        <p:nvSpPr>
          <p:cNvPr id="24" name="Shape 16"/>
          <p:cNvSpPr/>
          <p:nvPr/>
        </p:nvSpPr>
        <p:spPr>
          <a:xfrm>
            <a:off x="6565392" y="2560320"/>
            <a:ext cx="4800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dash"/>
          </a:ln>
        </p:spPr>
      </p:sp>
      <p:sp>
        <p:nvSpPr>
          <p:cNvPr id="25" name="Shape 17"/>
          <p:cNvSpPr/>
          <p:nvPr/>
        </p:nvSpPr>
        <p:spPr>
          <a:xfrm>
            <a:off x="6693408" y="2633472"/>
            <a:ext cx="420624" cy="420624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26" name="Image 6" descr="/home/claude/aiedge/icons/layerGroup_sl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8048" y="2728112"/>
            <a:ext cx="231343" cy="23134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251192" y="25603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6565392" y="3246120"/>
            <a:ext cx="4800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dash"/>
          </a:ln>
        </p:spPr>
      </p:sp>
      <p:sp>
        <p:nvSpPr>
          <p:cNvPr id="29" name="Shape 20"/>
          <p:cNvSpPr/>
          <p:nvPr/>
        </p:nvSpPr>
        <p:spPr>
          <a:xfrm>
            <a:off x="6693408" y="3319272"/>
            <a:ext cx="420624" cy="420624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30" name="Image 7" descr="/home/claude/aiedge/icons/networkWired_sla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8048" y="3413912"/>
            <a:ext cx="231343" cy="231343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251192" y="32461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mesh</a:t>
            </a:r>
            <a:endParaRPr lang="en-US" sz="1250" dirty="0"/>
          </a:p>
        </p:txBody>
      </p:sp>
      <p:sp>
        <p:nvSpPr>
          <p:cNvPr id="32" name="Shape 22"/>
          <p:cNvSpPr/>
          <p:nvPr/>
        </p:nvSpPr>
        <p:spPr>
          <a:xfrm>
            <a:off x="6565392" y="3931920"/>
            <a:ext cx="4800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dash"/>
          </a:ln>
        </p:spPr>
      </p:sp>
      <p:sp>
        <p:nvSpPr>
          <p:cNvPr id="33" name="Shape 23"/>
          <p:cNvSpPr/>
          <p:nvPr/>
        </p:nvSpPr>
        <p:spPr>
          <a:xfrm>
            <a:off x="6693408" y="4005072"/>
            <a:ext cx="420624" cy="420624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34" name="Image 8" descr="/home/claude/aiedge/icons/route_sla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8048" y="4099712"/>
            <a:ext cx="231343" cy="231343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251192" y="39319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Sensor-drift recalibration</a:t>
            </a:r>
            <a:endParaRPr lang="en-US" sz="1250" dirty="0"/>
          </a:p>
        </p:txBody>
      </p:sp>
      <p:sp>
        <p:nvSpPr>
          <p:cNvPr id="36" name="Shape 25"/>
          <p:cNvSpPr/>
          <p:nvPr/>
        </p:nvSpPr>
        <p:spPr>
          <a:xfrm>
            <a:off x="6565392" y="4617720"/>
            <a:ext cx="4800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dash"/>
          </a:ln>
        </p:spPr>
      </p:sp>
      <p:sp>
        <p:nvSpPr>
          <p:cNvPr id="37" name="Shape 26"/>
          <p:cNvSpPr/>
          <p:nvPr/>
        </p:nvSpPr>
        <p:spPr>
          <a:xfrm>
            <a:off x="6693408" y="4690872"/>
            <a:ext cx="420624" cy="420624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38" name="Image 9" descr="/home/claude/aiedge/icons/balanceScale_sla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8048" y="4785512"/>
            <a:ext cx="231343" cy="231343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251192" y="46177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1250" dirty="0"/>
          </a:p>
        </p:txBody>
      </p:sp>
      <p:sp>
        <p:nvSpPr>
          <p:cNvPr id="40" name="Shape 28"/>
          <p:cNvSpPr/>
          <p:nvPr/>
        </p:nvSpPr>
        <p:spPr>
          <a:xfrm>
            <a:off x="548640" y="5742432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0B1F2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17232B">
                <a:alpha val="18000"/>
              </a:srgbClr>
            </a:outerShdw>
          </a:effectLst>
        </p:spPr>
      </p:sp>
      <p:sp>
        <p:nvSpPr>
          <p:cNvPr id="41" name="Text 29"/>
          <p:cNvSpPr/>
          <p:nvPr/>
        </p:nvSpPr>
        <p:spPr>
          <a:xfrm>
            <a:off x="868680" y="57424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principle: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foundation first — extensions remain exploratory until the core system is proven.</a:t>
            </a:r>
            <a:endParaRPr lang="en-US" sz="1350" dirty="0"/>
          </a:p>
        </p:txBody>
      </p:sp>
      <p:sp>
        <p:nvSpPr>
          <p:cNvPr id="42" name="Text 30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5-phase roadmap from foundation to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2788920"/>
            <a:ext cx="10149840" cy="0"/>
          </a:xfrm>
          <a:prstGeom prst="line">
            <a:avLst/>
          </a:prstGeom>
          <a:noFill/>
          <a:ln w="50800">
            <a:solidFill>
              <a:srgbClr val="DC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9928" y="2478024"/>
            <a:ext cx="621792" cy="621792"/>
          </a:xfrm>
          <a:prstGeom prst="ellipse">
            <a:avLst/>
          </a:prstGeom>
          <a:solidFill>
            <a:srgbClr val="2ED9C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09928" y="2478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65860" y="1188720"/>
            <a:ext cx="1709928" cy="1234440"/>
          </a:xfrm>
          <a:prstGeom prst="roundRect">
            <a:avLst>
              <a:gd name="adj" fmla="val 888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1368" y="13167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aiedge/icons/layerGroup_deep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0123" y="1415491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5588" y="1792224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257300" y="2103120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pipeline, sensor ingestion &amp; state store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2020824" y="2423160"/>
            <a:ext cx="0" cy="54864"/>
          </a:xfrm>
          <a:prstGeom prst="line">
            <a:avLst/>
          </a:prstGeom>
          <a:noFill/>
          <a:ln w="19050">
            <a:solidFill>
              <a:srgbClr val="DCE6E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739896" y="2478024"/>
            <a:ext cx="621792" cy="621792"/>
          </a:xfrm>
          <a:prstGeom prst="ellipse">
            <a:avLst/>
          </a:prstGeom>
          <a:solidFill>
            <a:srgbClr val="0B1F2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39896" y="2478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D9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195828" y="3355848"/>
            <a:ext cx="1709928" cy="1234440"/>
          </a:xfrm>
          <a:prstGeom prst="roundRect">
            <a:avLst>
              <a:gd name="adj" fmla="val 888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31336" y="348386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/home/claude/aiedge/icons/sitemap_deep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91" y="3582619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05556" y="3959352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Build-out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287268" y="4270248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agents implemented per infrastructure area</a:t>
            </a:r>
            <a:endParaRPr lang="en-US" sz="870" dirty="0"/>
          </a:p>
        </p:txBody>
      </p:sp>
      <p:sp>
        <p:nvSpPr>
          <p:cNvPr id="20" name="Shape 16"/>
          <p:cNvSpPr/>
          <p:nvPr/>
        </p:nvSpPr>
        <p:spPr>
          <a:xfrm>
            <a:off x="4050792" y="3099816"/>
            <a:ext cx="0" cy="256032"/>
          </a:xfrm>
          <a:prstGeom prst="line">
            <a:avLst/>
          </a:prstGeom>
          <a:noFill/>
          <a:ln w="19050">
            <a:solidFill>
              <a:srgbClr val="DCE6E8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5769864" y="2478024"/>
            <a:ext cx="621792" cy="621792"/>
          </a:xfrm>
          <a:prstGeom prst="ellipse">
            <a:avLst/>
          </a:prstGeom>
          <a:solidFill>
            <a:srgbClr val="0B1F2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69864" y="2478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D9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225796" y="1188720"/>
            <a:ext cx="1709928" cy="1234440"/>
          </a:xfrm>
          <a:prstGeom prst="roundRect">
            <a:avLst>
              <a:gd name="adj" fmla="val 888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861304" y="13167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/home/claude/aiedge/icons/brain_deep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59" y="1415491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35524" y="1792224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Intelligence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317236" y="2103120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reasoning across agents</a:t>
            </a:r>
            <a:endParaRPr lang="en-US" sz="870" dirty="0"/>
          </a:p>
        </p:txBody>
      </p:sp>
      <p:sp>
        <p:nvSpPr>
          <p:cNvPr id="28" name="Shape 23"/>
          <p:cNvSpPr/>
          <p:nvPr/>
        </p:nvSpPr>
        <p:spPr>
          <a:xfrm>
            <a:off x="6080760" y="2423160"/>
            <a:ext cx="0" cy="54864"/>
          </a:xfrm>
          <a:prstGeom prst="line">
            <a:avLst/>
          </a:prstGeom>
          <a:noFill/>
          <a:ln w="19050">
            <a:solidFill>
              <a:srgbClr val="DCE6E8"/>
            </a:solidFill>
            <a:prstDash val="dash"/>
          </a:ln>
        </p:spPr>
      </p:sp>
      <p:sp>
        <p:nvSpPr>
          <p:cNvPr id="29" name="Shape 24"/>
          <p:cNvSpPr/>
          <p:nvPr/>
        </p:nvSpPr>
        <p:spPr>
          <a:xfrm>
            <a:off x="7799832" y="2478024"/>
            <a:ext cx="621792" cy="621792"/>
          </a:xfrm>
          <a:prstGeom prst="ellipse">
            <a:avLst/>
          </a:prstGeom>
          <a:solidFill>
            <a:srgbClr val="0B1F2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799832" y="2478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D9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Shape 26"/>
          <p:cNvSpPr/>
          <p:nvPr/>
        </p:nvSpPr>
        <p:spPr>
          <a:xfrm>
            <a:off x="7255764" y="3355848"/>
            <a:ext cx="1709928" cy="1234440"/>
          </a:xfrm>
          <a:prstGeom prst="roundRect">
            <a:avLst>
              <a:gd name="adj" fmla="val 888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891272" y="348386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3" descr="/home/claude/aiedge/icons/comments_deep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027" y="3582619"/>
            <a:ext cx="241402" cy="24140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365492" y="3959352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Storage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7347204" y="4270248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UI &amp; historical storage</a:t>
            </a:r>
            <a:endParaRPr lang="en-US" sz="870" dirty="0"/>
          </a:p>
        </p:txBody>
      </p:sp>
      <p:sp>
        <p:nvSpPr>
          <p:cNvPr id="36" name="Shape 30"/>
          <p:cNvSpPr/>
          <p:nvPr/>
        </p:nvSpPr>
        <p:spPr>
          <a:xfrm>
            <a:off x="8110728" y="3099816"/>
            <a:ext cx="0" cy="256032"/>
          </a:xfrm>
          <a:prstGeom prst="line">
            <a:avLst/>
          </a:prstGeom>
          <a:noFill/>
          <a:ln w="19050">
            <a:solidFill>
              <a:srgbClr val="DCE6E8"/>
            </a:solidFill>
            <a:prstDash val="dash"/>
          </a:ln>
        </p:spPr>
      </p:sp>
      <p:sp>
        <p:nvSpPr>
          <p:cNvPr id="37" name="Shape 31"/>
          <p:cNvSpPr/>
          <p:nvPr/>
        </p:nvSpPr>
        <p:spPr>
          <a:xfrm>
            <a:off x="9829800" y="2478024"/>
            <a:ext cx="621792" cy="621792"/>
          </a:xfrm>
          <a:prstGeom prst="ellipse">
            <a:avLst/>
          </a:prstGeom>
          <a:solidFill>
            <a:srgbClr val="0B1F2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829800" y="2478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D9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Shape 33"/>
          <p:cNvSpPr/>
          <p:nvPr/>
        </p:nvSpPr>
        <p:spPr>
          <a:xfrm>
            <a:off x="9285732" y="1188720"/>
            <a:ext cx="1709928" cy="1234440"/>
          </a:xfrm>
          <a:prstGeom prst="roundRect">
            <a:avLst>
              <a:gd name="adj" fmla="val 888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921240" y="13167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4" descr="/home/claude/aiedge/icons/chartBar_deep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9995" y="1415491"/>
            <a:ext cx="241402" cy="24140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395460" y="1792224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Evaluation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9377172" y="2103120"/>
            <a:ext cx="152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benchmarking</a:t>
            </a:r>
            <a:endParaRPr lang="en-US" sz="870" dirty="0"/>
          </a:p>
        </p:txBody>
      </p:sp>
      <p:sp>
        <p:nvSpPr>
          <p:cNvPr id="44" name="Shape 37"/>
          <p:cNvSpPr/>
          <p:nvPr/>
        </p:nvSpPr>
        <p:spPr>
          <a:xfrm>
            <a:off x="10140696" y="2423160"/>
            <a:ext cx="0" cy="54864"/>
          </a:xfrm>
          <a:prstGeom prst="line">
            <a:avLst/>
          </a:prstGeom>
          <a:noFill/>
          <a:ln w="19050">
            <a:solidFill>
              <a:srgbClr val="DCE6E8"/>
            </a:solidFill>
            <a:prstDash val="dash"/>
          </a:ln>
        </p:spPr>
      </p:sp>
      <p:sp>
        <p:nvSpPr>
          <p:cNvPr id="45" name="Shape 38"/>
          <p:cNvSpPr/>
          <p:nvPr/>
        </p:nvSpPr>
        <p:spPr>
          <a:xfrm>
            <a:off x="548640" y="5257800"/>
            <a:ext cx="6492240" cy="914400"/>
          </a:xfrm>
          <a:prstGeom prst="roundRect">
            <a:avLst>
              <a:gd name="adj" fmla="val 12000"/>
            </a:avLst>
          </a:prstGeom>
          <a:solidFill>
            <a:srgbClr val="F0FAF8"/>
          </a:solidFill>
          <a:ln w="12700">
            <a:solidFill>
              <a:srgbClr val="BFE9E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777240" y="5431536"/>
            <a:ext cx="566928" cy="566928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47" name="Image 5" descr="/home/claude/aiedge/icons/checkCirc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964" y="5556260"/>
            <a:ext cx="317480" cy="31748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508760" y="53675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1–3 · Core Validation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target given the project timeline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7223760" y="5257800"/>
            <a:ext cx="4416552" cy="914400"/>
          </a:xfrm>
          <a:prstGeom prst="roundRect">
            <a:avLst>
              <a:gd name="adj" fmla="val 12000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7452360" y="5431536"/>
            <a:ext cx="566928" cy="566928"/>
          </a:xfrm>
          <a:prstGeom prst="ellipse">
            <a:avLst/>
          </a:prstGeom>
          <a:solidFill>
            <a:srgbClr val="5B7480"/>
          </a:solidFill>
          <a:ln/>
        </p:spPr>
      </p:sp>
      <p:pic>
        <p:nvPicPr>
          <p:cNvPr id="51" name="Image 6" descr="/home/claude/aiedge/icons/flas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7084" y="5556260"/>
            <a:ext cx="317480" cy="31748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8183880" y="53675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4–5 · Stretch Goals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/ storage — timeline permitting</a:t>
            </a:r>
            <a:endParaRPr lang="en-US" sz="1300" dirty="0"/>
          </a:p>
        </p:txBody>
      </p:sp>
      <p:sp>
        <p:nvSpPr>
          <p:cNvPr id="53" name="Text 44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engineering → research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three configurations under the same conditions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84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aiedge/icons/clipboardList_deep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174" y="2096902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logic, no learning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42232" y="2400300"/>
            <a:ext cx="146304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4270248" y="2345436"/>
            <a:ext cx="91440" cy="109728"/>
          </a:xfrm>
          <a:prstGeom prst="triangle">
            <a:avLst/>
          </a:prstGeom>
          <a:solidFill>
            <a:srgbClr val="5B7480"/>
          </a:solidFill>
          <a:ln/>
        </p:spPr>
      </p:sp>
      <p:sp>
        <p:nvSpPr>
          <p:cNvPr id="12" name="Shape 9"/>
          <p:cNvSpPr/>
          <p:nvPr/>
        </p:nvSpPr>
        <p:spPr>
          <a:xfrm>
            <a:off x="4315968" y="17830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98848" y="19842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aiedge/icons/microchip_deep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502" y="2096902"/>
            <a:ext cx="286756" cy="2867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38928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SLM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138928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all domains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909560" y="2400300"/>
            <a:ext cx="146304" cy="0"/>
          </a:xfrm>
          <a:prstGeom prst="line">
            <a:avLst/>
          </a:prstGeom>
          <a:noFill/>
          <a:ln w="19050">
            <a:solidFill>
              <a:srgbClr val="5B748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 rot="5400000">
            <a:off x="8037576" y="2345436"/>
            <a:ext cx="91440" cy="109728"/>
          </a:xfrm>
          <a:prstGeom prst="triangle">
            <a:avLst/>
          </a:prstGeom>
          <a:solidFill>
            <a:srgbClr val="5B7480"/>
          </a:solidFill>
          <a:ln/>
        </p:spPr>
      </p:sp>
      <p:sp>
        <p:nvSpPr>
          <p:cNvPr id="19" name="Shape 15"/>
          <p:cNvSpPr/>
          <p:nvPr/>
        </p:nvSpPr>
        <p:spPr>
          <a:xfrm>
            <a:off x="8083296" y="17830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B1F2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17232B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66176" y="1984248"/>
            <a:ext cx="512064" cy="512064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21" name="Image 2" descr="/home/claude/aiedge/icons/sitem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830" y="2096902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06256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SLM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906256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+ domain agents (proposed)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486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3675888"/>
            <a:ext cx="1517904" cy="621792"/>
          </a:xfrm>
          <a:prstGeom prst="roundRect">
            <a:avLst>
              <a:gd name="adj" fmla="val 17647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0080" y="3675888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/ root-cause accuracy</a:t>
            </a:r>
            <a:endParaRPr lang="en-US" sz="970" dirty="0"/>
          </a:p>
        </p:txBody>
      </p:sp>
      <p:sp>
        <p:nvSpPr>
          <p:cNvPr id="27" name="Shape 22"/>
          <p:cNvSpPr/>
          <p:nvPr/>
        </p:nvSpPr>
        <p:spPr>
          <a:xfrm>
            <a:off x="2157984" y="3675888"/>
            <a:ext cx="1517904" cy="621792"/>
          </a:xfrm>
          <a:prstGeom prst="roundRect">
            <a:avLst>
              <a:gd name="adj" fmla="val 17647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249424" y="3675888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970" dirty="0"/>
          </a:p>
        </p:txBody>
      </p:sp>
      <p:sp>
        <p:nvSpPr>
          <p:cNvPr id="29" name="Shape 24"/>
          <p:cNvSpPr/>
          <p:nvPr/>
        </p:nvSpPr>
        <p:spPr>
          <a:xfrm>
            <a:off x="3767328" y="3675888"/>
            <a:ext cx="1517904" cy="621792"/>
          </a:xfrm>
          <a:prstGeom prst="roundRect">
            <a:avLst>
              <a:gd name="adj" fmla="val 17647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858768" y="3675888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970" dirty="0"/>
          </a:p>
        </p:txBody>
      </p:sp>
      <p:sp>
        <p:nvSpPr>
          <p:cNvPr id="31" name="Shape 26"/>
          <p:cNvSpPr/>
          <p:nvPr/>
        </p:nvSpPr>
        <p:spPr>
          <a:xfrm>
            <a:off x="5376672" y="3675888"/>
            <a:ext cx="1517904" cy="621792"/>
          </a:xfrm>
          <a:prstGeom prst="roundRect">
            <a:avLst>
              <a:gd name="adj" fmla="val 17647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468112" y="3675888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</a:t>
            </a:r>
            <a:endParaRPr lang="en-US" sz="970" dirty="0"/>
          </a:p>
        </p:txBody>
      </p:sp>
      <p:sp>
        <p:nvSpPr>
          <p:cNvPr id="33" name="Shape 28"/>
          <p:cNvSpPr/>
          <p:nvPr/>
        </p:nvSpPr>
        <p:spPr>
          <a:xfrm>
            <a:off x="548640" y="4389120"/>
            <a:ext cx="1517904" cy="621792"/>
          </a:xfrm>
          <a:prstGeom prst="roundRect">
            <a:avLst>
              <a:gd name="adj" fmla="val 17647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0080" y="438912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970" dirty="0"/>
          </a:p>
        </p:txBody>
      </p:sp>
      <p:sp>
        <p:nvSpPr>
          <p:cNvPr id="35" name="Shape 30"/>
          <p:cNvSpPr/>
          <p:nvPr/>
        </p:nvSpPr>
        <p:spPr>
          <a:xfrm>
            <a:off x="2157984" y="4389120"/>
            <a:ext cx="1517904" cy="621792"/>
          </a:xfrm>
          <a:prstGeom prst="roundRect">
            <a:avLst>
              <a:gd name="adj" fmla="val 17647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249424" y="438912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usage</a:t>
            </a:r>
            <a:endParaRPr lang="en-US" sz="970" dirty="0"/>
          </a:p>
        </p:txBody>
      </p:sp>
      <p:sp>
        <p:nvSpPr>
          <p:cNvPr id="37" name="Shape 32"/>
          <p:cNvSpPr/>
          <p:nvPr/>
        </p:nvSpPr>
        <p:spPr>
          <a:xfrm>
            <a:off x="3767328" y="4389120"/>
            <a:ext cx="1517904" cy="621792"/>
          </a:xfrm>
          <a:prstGeom prst="roundRect">
            <a:avLst>
              <a:gd name="adj" fmla="val 17647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3858768" y="438912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utilization</a:t>
            </a:r>
            <a:endParaRPr lang="en-US" sz="970" dirty="0"/>
          </a:p>
        </p:txBody>
      </p:sp>
      <p:sp>
        <p:nvSpPr>
          <p:cNvPr id="39" name="Shape 34"/>
          <p:cNvSpPr/>
          <p:nvPr/>
        </p:nvSpPr>
        <p:spPr>
          <a:xfrm>
            <a:off x="548640" y="557784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0B1F2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17232B">
                <a:alpha val="1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777240" y="5779008"/>
            <a:ext cx="548640" cy="548640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41" name="Image 3" descr="/home/claude/aiedge/icons/bullsey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899709"/>
            <a:ext cx="307238" cy="30723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508760" y="56692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claim to test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cross-domain multi-agent reasoning improve root-cause accuracy while maintaining acceptable latency and power cost?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work &amp; where it falls short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440680" cy="2084832"/>
          </a:xfrm>
          <a:prstGeom prst="roundRect">
            <a:avLst>
              <a:gd name="adj" fmla="val 5263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1907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aiedge/icons/robot_deep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3" y="1826057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19072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edge AI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313432"/>
            <a:ext cx="5038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agentic-AI + multi-agent frameworks exist for smart manufacturing / prescriptive maintenance — similar architecture (LLM planner + edge SLM agents), different application domain.</a:t>
            </a:r>
            <a:endParaRPr lang="en-US" sz="1070" dirty="0"/>
          </a:p>
        </p:txBody>
      </p:sp>
      <p:sp>
        <p:nvSpPr>
          <p:cNvPr id="9" name="Shape 6"/>
          <p:cNvSpPr/>
          <p:nvPr/>
        </p:nvSpPr>
        <p:spPr>
          <a:xfrm>
            <a:off x="6199632" y="1536192"/>
            <a:ext cx="5440680" cy="2084832"/>
          </a:xfrm>
          <a:prstGeom prst="roundRect">
            <a:avLst>
              <a:gd name="adj" fmla="val 5263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71907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aiedge/icons/building_deep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785" y="1826057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22592" y="1719072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intelligence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0" y="2313432"/>
            <a:ext cx="5038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2026 zero-shot multi-agent framework for human-building interaction, validated on 200+ commercial buildings — cloud / programmatic-reasoning focused, not edge cross-infrastructure.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548640" y="3803904"/>
            <a:ext cx="5440680" cy="2084832"/>
          </a:xfrm>
          <a:prstGeom prst="roundRect">
            <a:avLst>
              <a:gd name="adj" fmla="val 5263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98678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aiedge/icons/chartBar_deep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3" y="409376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986784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SmartBench (2026)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49808" y="4581144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LLMs for smart-home anomaly detection. Even strong frontier models struggle with contextual anomalies.</a:t>
            </a:r>
            <a:endParaRPr lang="en-US" sz="1070" dirty="0"/>
          </a:p>
        </p:txBody>
      </p:sp>
      <p:sp>
        <p:nvSpPr>
          <p:cNvPr id="19" name="Text 14"/>
          <p:cNvSpPr/>
          <p:nvPr/>
        </p:nvSpPr>
        <p:spPr>
          <a:xfrm>
            <a:off x="749808" y="5321808"/>
            <a:ext cx="27710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— Context-independent</a:t>
            </a:r>
            <a:endParaRPr lang="en-US" sz="830" dirty="0"/>
          </a:p>
        </p:txBody>
      </p:sp>
      <p:sp>
        <p:nvSpPr>
          <p:cNvPr id="20" name="Shape 15"/>
          <p:cNvSpPr/>
          <p:nvPr/>
        </p:nvSpPr>
        <p:spPr>
          <a:xfrm>
            <a:off x="3520897" y="5349240"/>
            <a:ext cx="2267255" cy="128016"/>
          </a:xfrm>
          <a:prstGeom prst="roundRect">
            <a:avLst>
              <a:gd name="adj" fmla="val 21429"/>
            </a:avLst>
          </a:prstGeom>
          <a:solidFill>
            <a:srgbClr val="DCE6E8"/>
          </a:solidFill>
          <a:ln/>
        </p:spPr>
      </p:sp>
      <p:sp>
        <p:nvSpPr>
          <p:cNvPr id="21" name="Shape 16"/>
          <p:cNvSpPr/>
          <p:nvPr/>
        </p:nvSpPr>
        <p:spPr>
          <a:xfrm>
            <a:off x="3520897" y="5349240"/>
            <a:ext cx="1496388" cy="128016"/>
          </a:xfrm>
          <a:prstGeom prst="roundRect">
            <a:avLst>
              <a:gd name="adj" fmla="val 21429"/>
            </a:avLst>
          </a:prstGeom>
          <a:solidFill>
            <a:srgbClr val="2ED9C3"/>
          </a:solidFill>
          <a:ln/>
        </p:spPr>
      </p:sp>
      <p:sp>
        <p:nvSpPr>
          <p:cNvPr id="22" name="Text 17"/>
          <p:cNvSpPr/>
          <p:nvPr/>
        </p:nvSpPr>
        <p:spPr>
          <a:xfrm>
            <a:off x="5477256" y="529437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749808" y="5568696"/>
            <a:ext cx="27710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— Context-dependent</a:t>
            </a:r>
            <a:endParaRPr lang="en-US" sz="830" dirty="0"/>
          </a:p>
        </p:txBody>
      </p:sp>
      <p:sp>
        <p:nvSpPr>
          <p:cNvPr id="24" name="Shape 19"/>
          <p:cNvSpPr/>
          <p:nvPr/>
        </p:nvSpPr>
        <p:spPr>
          <a:xfrm>
            <a:off x="3520897" y="5596128"/>
            <a:ext cx="2267255" cy="128016"/>
          </a:xfrm>
          <a:prstGeom prst="roundRect">
            <a:avLst>
              <a:gd name="adj" fmla="val 21429"/>
            </a:avLst>
          </a:prstGeom>
          <a:solidFill>
            <a:srgbClr val="DCE6E8"/>
          </a:solidFill>
          <a:ln/>
        </p:spPr>
      </p:sp>
      <p:sp>
        <p:nvSpPr>
          <p:cNvPr id="25" name="Shape 20"/>
          <p:cNvSpPr/>
          <p:nvPr/>
        </p:nvSpPr>
        <p:spPr>
          <a:xfrm>
            <a:off x="3520897" y="5596128"/>
            <a:ext cx="1315008" cy="128016"/>
          </a:xfrm>
          <a:prstGeom prst="roundRect">
            <a:avLst>
              <a:gd name="adj" fmla="val 21429"/>
            </a:avLst>
          </a:prstGeom>
          <a:solidFill>
            <a:srgbClr val="2ED9C3"/>
          </a:solidFill>
          <a:ln/>
        </p:spPr>
      </p:sp>
      <p:sp>
        <p:nvSpPr>
          <p:cNvPr id="26" name="Text 21"/>
          <p:cNvSpPr/>
          <p:nvPr/>
        </p:nvSpPr>
        <p:spPr>
          <a:xfrm>
            <a:off x="5477256" y="554126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199632" y="3803904"/>
            <a:ext cx="5440680" cy="2084832"/>
          </a:xfrm>
          <a:prstGeom prst="roundRect">
            <a:avLst>
              <a:gd name="adj" fmla="val 5263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0" y="3986784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/home/claude/aiedge/icons/server_deep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785" y="4093769"/>
            <a:ext cx="261518" cy="26151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22592" y="3986784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multi-agent systems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6400800" y="4581144"/>
            <a:ext cx="5038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(e.g. mABC, Flow-of-Action) targets cloud / IT operations and microservice logs rather than physical IoT sensors.</a:t>
            </a:r>
            <a:endParaRPr lang="en-US" sz="1070" dirty="0"/>
          </a:p>
        </p:txBody>
      </p:sp>
      <p:sp>
        <p:nvSpPr>
          <p:cNvPr id="32" name="Text 26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research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find prior work combining all three: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128016" cy="128016"/>
          </a:xfrm>
          <a:prstGeom prst="ellipse">
            <a:avLst/>
          </a:prstGeom>
          <a:solidFill>
            <a:srgbClr val="2ED9C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27632"/>
            <a:ext cx="27761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edge / on-device SLM deployment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54526" y="1673352"/>
            <a:ext cx="128016" cy="128016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8" name="Text 6"/>
          <p:cNvSpPr/>
          <p:nvPr/>
        </p:nvSpPr>
        <p:spPr>
          <a:xfrm>
            <a:off x="3955694" y="1627632"/>
            <a:ext cx="31711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reasoning across infrastructure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55434" y="1673352"/>
            <a:ext cx="128016" cy="128016"/>
          </a:xfrm>
          <a:prstGeom prst="ellipse">
            <a:avLst/>
          </a:prstGeom>
          <a:solidFill>
            <a:srgbClr val="8FA9E8"/>
          </a:solidFill>
          <a:ln/>
        </p:spPr>
      </p:sp>
      <p:sp>
        <p:nvSpPr>
          <p:cNvPr id="10" name="Text 8"/>
          <p:cNvSpPr/>
          <p:nvPr/>
        </p:nvSpPr>
        <p:spPr>
          <a:xfrm>
            <a:off x="7556602" y="1627632"/>
            <a:ext cx="40270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rule-based vs. single vs. multi-agent comparison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2953512"/>
            <a:ext cx="2414016" cy="2414016"/>
          </a:xfrm>
          <a:prstGeom prst="ellipse">
            <a:avLst/>
          </a:prstGeom>
          <a:solidFill>
            <a:srgbClr val="2ED9C3">
              <a:alpha val="26000"/>
            </a:srgbClr>
          </a:solidFill>
          <a:ln w="25400">
            <a:solidFill>
              <a:srgbClr val="2ED9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2953512"/>
            <a:ext cx="2414016" cy="2414016"/>
          </a:xfrm>
          <a:prstGeom prst="ellipse">
            <a:avLst/>
          </a:prstGeom>
          <a:solidFill>
            <a:srgbClr val="E2725B">
              <a:alpha val="26000"/>
            </a:srgbClr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5072" y="4050792"/>
            <a:ext cx="2414016" cy="2414016"/>
          </a:xfrm>
          <a:prstGeom prst="ellipse">
            <a:avLst/>
          </a:prstGeom>
          <a:solidFill>
            <a:srgbClr val="8FA9E8">
              <a:alpha val="26000"/>
            </a:srgbClr>
          </a:solidFill>
          <a:ln w="25400">
            <a:solidFill>
              <a:srgbClr val="8FA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6592" y="4224528"/>
            <a:ext cx="950976" cy="69494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4224528"/>
            <a:ext cx="9509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3108960"/>
            <a:ext cx="4233672" cy="2148840"/>
          </a:xfrm>
          <a:prstGeom prst="roundRect">
            <a:avLst>
              <a:gd name="adj" fmla="val 5106"/>
            </a:avLst>
          </a:prstGeom>
          <a:solidFill>
            <a:srgbClr val="123847"/>
          </a:solidFill>
          <a:ln w="12700">
            <a:solidFill>
              <a:srgbClr val="1F4A5C"/>
            </a:solidFill>
            <a:prstDash val="solid"/>
          </a:ln>
          <a:effectLst>
            <a:outerShdw sx="100000" sy="100000" kx="0" ky="0" algn="bl" rotWithShape="0" blurRad="101600" dist="38100" dir="5400000">
              <a:srgbClr val="17232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3310128"/>
            <a:ext cx="502920" cy="502920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18" name="Image 0" descr="/home/claude/aiedge/icons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5882" y="3420770"/>
            <a:ext cx="281635" cy="28163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247888" y="3364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35240" y="3913632"/>
            <a:ext cx="3776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DC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simply "using agents for smart cities" — evaluating whether an edge-native multi-agent SLM architecture performs useful cross-domain root-cause reasoning under real resource constraints.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for the guide &amp; 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47872" cy="2148840"/>
          </a:xfrm>
          <a:prstGeom prst="roundRect">
            <a:avLst>
              <a:gd name="adj" fmla="val 5106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29968"/>
            <a:ext cx="512064" cy="512064"/>
          </a:xfrm>
          <a:prstGeom prst="ellipse">
            <a:avLst/>
          </a:prstGeom>
          <a:solidFill>
            <a:srgbClr val="0B1F2A"/>
          </a:solidFill>
          <a:ln/>
        </p:spPr>
      </p:sp>
      <p:pic>
        <p:nvPicPr>
          <p:cNvPr id="6" name="Image 0" descr="/home/claude/aiedge/icons/balanceSca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21451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93592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7D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" y="2670048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framing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999232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rule-based vs. single-SLM vs. multi-agent-SLM provide a defensible contribution, or should the baseline / ablation differ?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325112" y="1828800"/>
            <a:ext cx="3547872" cy="2148840"/>
          </a:xfrm>
          <a:prstGeom prst="roundRect">
            <a:avLst>
              <a:gd name="adj" fmla="val 5106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029968"/>
            <a:ext cx="512064" cy="512064"/>
          </a:xfrm>
          <a:prstGeom prst="ellipse">
            <a:avLst/>
          </a:prstGeom>
          <a:solidFill>
            <a:srgbClr val="0B1F2A"/>
          </a:solidFill>
          <a:ln/>
        </p:spPr>
      </p:sp>
      <p:pic>
        <p:nvPicPr>
          <p:cNvPr id="12" name="Image 1" descr="/home/claude/aiedge/icons/compas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494" y="214518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0064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7D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26280" y="2670048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26280" y="2999232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timeline, should Phases 1–3 be the committed target, with interface/storage as stretch goals?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8101584" y="1828800"/>
            <a:ext cx="3547872" cy="2148840"/>
          </a:xfrm>
          <a:prstGeom prst="roundRect">
            <a:avLst>
              <a:gd name="adj" fmla="val 5106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02752" y="2029968"/>
            <a:ext cx="512064" cy="512064"/>
          </a:xfrm>
          <a:prstGeom prst="ellipse">
            <a:avLst/>
          </a:prstGeom>
          <a:solidFill>
            <a:srgbClr val="0B1F2A"/>
          </a:solidFill>
          <a:ln/>
        </p:spPr>
      </p:sp>
      <p:pic>
        <p:nvPicPr>
          <p:cNvPr id="18" name="Image 2" descr="/home/claude/aiedge/icons/microchip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214518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46536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7D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02752" y="2670048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QIDK deployment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02752" y="2999232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model sizes are realistically deployable on the QIDK NPU? Should this be benchmarked early rather than assumed?</a:t>
            </a:r>
            <a:endParaRPr lang="en-US" sz="1030" dirty="0"/>
          </a:p>
        </p:txBody>
      </p:sp>
      <p:sp>
        <p:nvSpPr>
          <p:cNvPr id="22" name="Shape 17"/>
          <p:cNvSpPr/>
          <p:nvPr/>
        </p:nvSpPr>
        <p:spPr>
          <a:xfrm>
            <a:off x="548640" y="4251960"/>
            <a:ext cx="3547872" cy="1554480"/>
          </a:xfrm>
          <a:prstGeom prst="roundRect">
            <a:avLst>
              <a:gd name="adj" fmla="val 705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4434840"/>
            <a:ext cx="457200" cy="457200"/>
          </a:xfrm>
          <a:prstGeom prst="ellipse">
            <a:avLst/>
          </a:prstGeom>
          <a:solidFill>
            <a:srgbClr val="0B1F2A"/>
          </a:solidFill>
          <a:ln/>
        </p:spPr>
      </p:sp>
      <p:pic>
        <p:nvPicPr>
          <p:cNvPr id="24" name="Image 3" descr="/home/claude/aiedge/icons/databas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453771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39312" y="4379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7D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344168" y="44348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49808" y="5001768"/>
            <a:ext cx="3145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existing multi-domain smart-building datasets to use, or is synthetic data + a small real pilot more appropriate?</a:t>
            </a:r>
            <a:endParaRPr lang="en-US" sz="1030" dirty="0"/>
          </a:p>
        </p:txBody>
      </p:sp>
      <p:sp>
        <p:nvSpPr>
          <p:cNvPr id="28" name="Shape 22"/>
          <p:cNvSpPr/>
          <p:nvPr/>
        </p:nvSpPr>
        <p:spPr>
          <a:xfrm>
            <a:off x="4325112" y="4251960"/>
            <a:ext cx="3547872" cy="1554480"/>
          </a:xfrm>
          <a:prstGeom prst="roundRect">
            <a:avLst>
              <a:gd name="adj" fmla="val 7059"/>
            </a:avLst>
          </a:prstGeom>
          <a:solidFill>
            <a:srgbClr val="EEF3F4"/>
          </a:solidFill>
          <a:ln w="12700">
            <a:solidFill>
              <a:srgbClr val="DCE6E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26280" y="4434840"/>
            <a:ext cx="457200" cy="457200"/>
          </a:xfrm>
          <a:prstGeom prst="ellipse">
            <a:avLst/>
          </a:prstGeom>
          <a:solidFill>
            <a:srgbClr val="0B1F2A"/>
          </a:solidFill>
          <a:ln/>
        </p:spPr>
      </p:sp>
      <p:pic>
        <p:nvPicPr>
          <p:cNvPr id="30" name="Image 4" descr="/home/claude/aiedge/icons/boo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0" y="4537710"/>
            <a:ext cx="251460" cy="2514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15784" y="4379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7D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5120640" y="44348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526280" y="5001768"/>
            <a:ext cx="3145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prior multi-agent LLM/SLM work on cross-domain sensor reasoning should we check to avoid duplicating research?</a:t>
            </a:r>
            <a:endParaRPr lang="en-US" sz="1030" dirty="0"/>
          </a:p>
        </p:txBody>
      </p:sp>
      <p:sp>
        <p:nvSpPr>
          <p:cNvPr id="34" name="Shape 27"/>
          <p:cNvSpPr/>
          <p:nvPr/>
        </p:nvSpPr>
        <p:spPr>
          <a:xfrm>
            <a:off x="8101584" y="4251960"/>
            <a:ext cx="3547872" cy="1554480"/>
          </a:xfrm>
          <a:prstGeom prst="roundRect">
            <a:avLst>
              <a:gd name="adj" fmla="val 7059"/>
            </a:avLst>
          </a:prstGeom>
          <a:solidFill>
            <a:srgbClr val="0B1F2A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101600" dist="38100" dir="5400000">
              <a:srgbClr val="17232B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02752" y="4434840"/>
            <a:ext cx="457200" cy="457200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36" name="Image 5" descr="/home/claude/aiedge/icons/questionCirc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4535424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97112" y="4398264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any further concerns or redirection before implementation begins.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11368735" y="6473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9476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12700">
            <a:solidFill>
              <a:srgbClr val="1330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41248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feedback welcome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123847"/>
          </a:solidFill>
          <a:ln w="12700">
            <a:solidFill>
              <a:srgbClr val="1F4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03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D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small local model reason across multiple sensor domains, in real time, directly on an edge device?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Anuradha Vattem</a:t>
            </a:r>
            <a:pPr indent="0" marL="0">
              <a:buNone/>
            </a:pPr>
            <a:r>
              <a:rPr lang="en-US" sz="13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TA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Lokabhiram Chintada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2852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· Embedded Systems &amp; Wireless Lab · Target platform: Qualcomm QIDK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829800" y="2057400"/>
            <a:ext cx="1737360" cy="1737360"/>
          </a:xfrm>
          <a:prstGeom prst="ellipse">
            <a:avLst/>
          </a:prstGeom>
          <a:ln w="12700">
            <a:solidFill>
              <a:srgbClr val="1F4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35540" y="2263140"/>
            <a:ext cx="1325880" cy="1325880"/>
          </a:xfrm>
          <a:prstGeom prst="ellipse">
            <a:avLst/>
          </a:prstGeom>
          <a:ln w="12700">
            <a:solidFill>
              <a:srgbClr val="1F4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2468880"/>
            <a:ext cx="914400" cy="914400"/>
          </a:xfrm>
          <a:prstGeom prst="ellipse">
            <a:avLst/>
          </a:prstGeom>
          <a:ln w="25400">
            <a:solidFill>
              <a:srgbClr val="2ED9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7584" y="2615184"/>
            <a:ext cx="621792" cy="621792"/>
          </a:xfrm>
          <a:prstGeom prst="ellipse">
            <a:avLst/>
          </a:prstGeom>
          <a:solidFill>
            <a:srgbClr val="2ED9C3"/>
          </a:solidFill>
          <a:ln/>
        </p:spPr>
      </p:sp>
      <p:pic>
        <p:nvPicPr>
          <p:cNvPr id="19" name="Image 0" descr="/home/claude/aiedge/icons/cit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7487" y="2755087"/>
            <a:ext cx="341986" cy="3419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2026-08-19T08:42:44Z</dcterms:created>
  <dcterms:modified xsi:type="dcterms:W3CDTF">2026-08-19T08:42:44Z</dcterms:modified>
</cp:coreProperties>
</file>